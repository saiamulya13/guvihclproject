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14"/>
  </p:notesMasterIdLst>
  <p:handoutMasterIdLst>
    <p:handoutMasterId r:id="rId15"/>
  </p:handoutMasterIdLst>
  <p:sldIdLst>
    <p:sldId id="256" r:id="rId5"/>
    <p:sldId id="264" r:id="rId6"/>
    <p:sldId id="259" r:id="rId7"/>
    <p:sldId id="265" r:id="rId8"/>
    <p:sldId id="266" r:id="rId9"/>
    <p:sldId id="267" r:id="rId10"/>
    <p:sldId id="268" r:id="rId11"/>
    <p:sldId id="260"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5DC005-76E2-A0A0-527B-46BADA326F3D}" v="438" dt="2025-10-28T17:48:54.1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5" autoAdjust="0"/>
  </p:normalViewPr>
  <p:slideViewPr>
    <p:cSldViewPr snapToGrid="0">
      <p:cViewPr>
        <p:scale>
          <a:sx n="100" d="100"/>
          <a:sy n="100" d="100"/>
        </p:scale>
        <p:origin x="58" y="-696"/>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AEF700-9B0B-4359-8356-DCE7EE4E41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B9BF05B-06DB-4EC8-B476-CF95F9BD85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3D6361-1E3C-4214-95E1-B8DE93421F8F}" type="datetimeFigureOut">
              <a:rPr lang="en-US" smtClean="0"/>
              <a:t>10/28/2025</a:t>
            </a:fld>
            <a:endParaRPr lang="en-US" dirty="0"/>
          </a:p>
        </p:txBody>
      </p:sp>
      <p:sp>
        <p:nvSpPr>
          <p:cNvPr id="4" name="Footer Placeholder 3">
            <a:extLst>
              <a:ext uri="{FF2B5EF4-FFF2-40B4-BE49-F238E27FC236}">
                <a16:creationId xmlns:a16="http://schemas.microsoft.com/office/drawing/2014/main" id="{6321952E-79CD-4E03-AAEB-C22680419E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3DCA65F-8548-4E36-8331-FD471638BD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E0281-66A0-46B8-BDE2-AEF0C7453753}" type="slidenum">
              <a:rPr lang="en-US" smtClean="0"/>
              <a:t>‹#›</a:t>
            </a:fld>
            <a:endParaRPr lang="en-US" dirty="0"/>
          </a:p>
        </p:txBody>
      </p:sp>
    </p:spTree>
    <p:extLst>
      <p:ext uri="{BB962C8B-B14F-4D97-AF65-F5344CB8AC3E}">
        <p14:creationId xmlns:p14="http://schemas.microsoft.com/office/powerpoint/2010/main" val="65573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9CFFA-1E2F-4435-8DD6-9B5CC3FF4505}" type="datetimeFigureOut">
              <a:rPr lang="en-US" smtClean="0"/>
              <a:t>10/28/2025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ED1C-4656-4CF8-AD34-DC4A65BB3913}" type="slidenum">
              <a:rPr lang="en-US" smtClean="0"/>
              <a:t>‹#›</a:t>
            </a:fld>
            <a:endParaRPr lang="en-US" dirty="0"/>
          </a:p>
        </p:txBody>
      </p:sp>
    </p:spTree>
    <p:extLst>
      <p:ext uri="{BB962C8B-B14F-4D97-AF65-F5344CB8AC3E}">
        <p14:creationId xmlns:p14="http://schemas.microsoft.com/office/powerpoint/2010/main" val="3895429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a:t>
            </a:fld>
            <a:endParaRPr lang="en-US" dirty="0"/>
          </a:p>
        </p:txBody>
      </p:sp>
    </p:spTree>
    <p:extLst>
      <p:ext uri="{BB962C8B-B14F-4D97-AF65-F5344CB8AC3E}">
        <p14:creationId xmlns:p14="http://schemas.microsoft.com/office/powerpoint/2010/main" val="204084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2</a:t>
            </a:fld>
            <a:endParaRPr lang="en-US" dirty="0"/>
          </a:p>
        </p:txBody>
      </p:sp>
    </p:spTree>
    <p:extLst>
      <p:ext uri="{BB962C8B-B14F-4D97-AF65-F5344CB8AC3E}">
        <p14:creationId xmlns:p14="http://schemas.microsoft.com/office/powerpoint/2010/main" val="643230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3</a:t>
            </a:fld>
            <a:endParaRPr lang="en-US" dirty="0"/>
          </a:p>
        </p:txBody>
      </p:sp>
    </p:spTree>
    <p:extLst>
      <p:ext uri="{BB962C8B-B14F-4D97-AF65-F5344CB8AC3E}">
        <p14:creationId xmlns:p14="http://schemas.microsoft.com/office/powerpoint/2010/main" val="470719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4</a:t>
            </a:fld>
            <a:endParaRPr lang="en-US" dirty="0"/>
          </a:p>
        </p:txBody>
      </p:sp>
    </p:spTree>
    <p:extLst>
      <p:ext uri="{BB962C8B-B14F-4D97-AF65-F5344CB8AC3E}">
        <p14:creationId xmlns:p14="http://schemas.microsoft.com/office/powerpoint/2010/main" val="3453078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5</a:t>
            </a:fld>
            <a:endParaRPr lang="en-US" dirty="0"/>
          </a:p>
        </p:txBody>
      </p:sp>
    </p:spTree>
    <p:extLst>
      <p:ext uri="{BB962C8B-B14F-4D97-AF65-F5344CB8AC3E}">
        <p14:creationId xmlns:p14="http://schemas.microsoft.com/office/powerpoint/2010/main" val="39291776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87403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6270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75351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164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24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13326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5379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5185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82491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76979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2422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31610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213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8399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7418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39669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5640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24972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10/28/2025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5226178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705"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3410CE-B7ED-E20F-6C64-FD7C42726397}"/>
              </a:ext>
            </a:extLst>
          </p:cNvPr>
          <p:cNvSpPr>
            <a:spLocks noGrp="1"/>
          </p:cNvSpPr>
          <p:nvPr>
            <p:ph type="ctrTitle"/>
          </p:nvPr>
        </p:nvSpPr>
        <p:spPr/>
        <p:txBody>
          <a:bodyPr>
            <a:normAutofit/>
          </a:bodyPr>
          <a:lstStyle/>
          <a:p>
            <a:r>
              <a:rPr lang="en-US" sz="2400" dirty="0"/>
              <a:t>Project title: hardware inventory system</a:t>
            </a:r>
            <a:br>
              <a:rPr lang="en-US" sz="2400" dirty="0"/>
            </a:br>
            <a:r>
              <a:rPr lang="en-US" sz="2400" dirty="0"/>
              <a:t>Name: </a:t>
            </a:r>
            <a:r>
              <a:rPr lang="en-US" sz="2400" dirty="0" err="1"/>
              <a:t>palimeti</a:t>
            </a:r>
            <a:r>
              <a:rPr lang="en-US" sz="2400" dirty="0"/>
              <a:t> </a:t>
            </a:r>
            <a:r>
              <a:rPr lang="en-US" sz="2400" dirty="0" err="1"/>
              <a:t>sai</a:t>
            </a:r>
            <a:r>
              <a:rPr lang="en-US" sz="2400" dirty="0"/>
              <a:t> </a:t>
            </a:r>
            <a:r>
              <a:rPr lang="en-US" sz="2400" dirty="0" err="1"/>
              <a:t>amulya</a:t>
            </a:r>
            <a:br>
              <a:rPr lang="en-US" sz="2400" dirty="0"/>
            </a:br>
            <a:r>
              <a:rPr lang="en-US" sz="2400" dirty="0"/>
              <a:t>branch: CSE(AI)</a:t>
            </a:r>
            <a:br>
              <a:rPr lang="en-US" sz="2400" dirty="0"/>
            </a:br>
            <a:endParaRPr lang="en-US" sz="2400" dirty="0"/>
          </a:p>
        </p:txBody>
      </p:sp>
    </p:spTree>
    <p:extLst>
      <p:ext uri="{BB962C8B-B14F-4D97-AF65-F5344CB8AC3E}">
        <p14:creationId xmlns:p14="http://schemas.microsoft.com/office/powerpoint/2010/main" val="264202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person standing in a room with a tablet&#10;&#10;AI-generated content may be incorrect.">
            <a:extLst>
              <a:ext uri="{FF2B5EF4-FFF2-40B4-BE49-F238E27FC236}">
                <a16:creationId xmlns:a16="http://schemas.microsoft.com/office/drawing/2014/main" id="{9FAFE65A-068C-314B-B262-D13028DD9BA2}"/>
              </a:ext>
            </a:extLst>
          </p:cNvPr>
          <p:cNvPicPr>
            <a:picLocks noChangeAspect="1"/>
          </p:cNvPicPr>
          <p:nvPr/>
        </p:nvPicPr>
        <p:blipFill>
          <a:blip r:embed="rId3"/>
          <a:srcRect l="18138" r="38580" b="-2"/>
          <a:stretch>
            <a:fillRect/>
          </a:stretch>
        </p:blipFill>
        <p:spPr>
          <a:xfrm>
            <a:off x="20" y="10"/>
            <a:ext cx="4024741" cy="6857990"/>
          </a:xfrm>
          <a:prstGeom prst="rect">
            <a:avLst/>
          </a:prstGeom>
        </p:spPr>
      </p:pic>
      <p:sp>
        <p:nvSpPr>
          <p:cNvPr id="122" name="Rectangle 121">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Picture 123">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850B972-0B7A-40CD-9E79-07E8A87AB03C}"/>
              </a:ext>
            </a:extLst>
          </p:cNvPr>
          <p:cNvSpPr>
            <a:spLocks noGrp="1"/>
          </p:cNvSpPr>
          <p:nvPr>
            <p:ph type="title"/>
          </p:nvPr>
        </p:nvSpPr>
        <p:spPr>
          <a:xfrm>
            <a:off x="4465050" y="618517"/>
            <a:ext cx="6672886" cy="1596177"/>
          </a:xfrm>
        </p:spPr>
        <p:txBody>
          <a:bodyPr vert="horz" lIns="91440" tIns="45720" rIns="91440" bIns="45720" rtlCol="0" anchor="ctr">
            <a:normAutofit/>
          </a:bodyPr>
          <a:lstStyle/>
          <a:p>
            <a:r>
              <a:rPr lang="en-US" dirty="0"/>
              <a:t>Introduction</a:t>
            </a:r>
            <a:br>
              <a:rPr lang="en-US" dirty="0"/>
            </a:br>
            <a:endParaRPr lang="en-US"/>
          </a:p>
        </p:txBody>
      </p:sp>
      <p:sp>
        <p:nvSpPr>
          <p:cNvPr id="28" name="TextBox 27">
            <a:extLst>
              <a:ext uri="{FF2B5EF4-FFF2-40B4-BE49-F238E27FC236}">
                <a16:creationId xmlns:a16="http://schemas.microsoft.com/office/drawing/2014/main" id="{EB37F651-9816-DB14-C967-40E2A0757849}"/>
              </a:ext>
            </a:extLst>
          </p:cNvPr>
          <p:cNvSpPr txBox="1"/>
          <p:nvPr/>
        </p:nvSpPr>
        <p:spPr>
          <a:xfrm>
            <a:off x="4465048" y="2367092"/>
            <a:ext cx="6672887" cy="3424107"/>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defTabSz="914400">
              <a:lnSpc>
                <a:spcPct val="120000"/>
              </a:lnSpc>
              <a:spcAft>
                <a:spcPts val="600"/>
              </a:spcAft>
              <a:buClr>
                <a:schemeClr val="tx1"/>
              </a:buClr>
              <a:buFont typeface="Arial" panose="020B0604020202020204" pitchFamily="34" charset="0"/>
              <a:buChar char="•"/>
            </a:pPr>
            <a:r>
              <a:rPr lang="en-US" cap="all"/>
              <a:t>A hardware inventory system is essential for efficiently tracking and managing physical IT assets within an organization. It ensures real-time visibility of inventory, reduces losses, and improves maintenance scheduling. This presentation highlights the core objectives, features, and benefits of implementing such a system.</a:t>
            </a:r>
          </a:p>
          <a:p>
            <a:pPr indent="-228600" defTabSz="914400">
              <a:lnSpc>
                <a:spcPct val="120000"/>
              </a:lnSpc>
              <a:spcAft>
                <a:spcPts val="600"/>
              </a:spcAft>
              <a:buClr>
                <a:schemeClr val="tx1"/>
              </a:buClr>
              <a:buFont typeface="Arial" panose="020B0604020202020204" pitchFamily="34" charset="0"/>
              <a:buChar char="•"/>
            </a:pPr>
            <a:endParaRPr lang="en-US" cap="all"/>
          </a:p>
        </p:txBody>
      </p:sp>
    </p:spTree>
    <p:extLst>
      <p:ext uri="{BB962C8B-B14F-4D97-AF65-F5344CB8AC3E}">
        <p14:creationId xmlns:p14="http://schemas.microsoft.com/office/powerpoint/2010/main" val="202640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2">
            <a:extLst>
              <a:ext uri="{FF2B5EF4-FFF2-40B4-BE49-F238E27FC236}">
                <a16:creationId xmlns:a16="http://schemas.microsoft.com/office/drawing/2014/main" id="{0917E639-5738-4605-929E-1222198314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3"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643463" y="640831"/>
            <a:ext cx="3352128" cy="1573863"/>
          </a:xfrm>
        </p:spPr>
        <p:txBody>
          <a:bodyPr>
            <a:normAutofit/>
          </a:bodyPr>
          <a:lstStyle/>
          <a:p>
            <a:pPr algn="l"/>
            <a:r>
              <a:rPr lang="en-US"/>
              <a:t>Purpose and Objectives</a:t>
            </a:r>
          </a:p>
          <a:p>
            <a:pPr algn="l"/>
            <a:endParaRPr lang="en-US"/>
          </a:p>
        </p:txBody>
      </p:sp>
      <p:sp>
        <p:nvSpPr>
          <p:cNvPr id="4" name="Content Placeholder 3">
            <a:extLst>
              <a:ext uri="{FF2B5EF4-FFF2-40B4-BE49-F238E27FC236}">
                <a16:creationId xmlns:a16="http://schemas.microsoft.com/office/drawing/2014/main" id="{D4E6DBF3-B55A-B704-2540-0F14F629EB85}"/>
              </a:ext>
            </a:extLst>
          </p:cNvPr>
          <p:cNvSpPr>
            <a:spLocks noGrp="1"/>
          </p:cNvSpPr>
          <p:nvPr>
            <p:ph idx="1"/>
          </p:nvPr>
        </p:nvSpPr>
        <p:spPr>
          <a:xfrm>
            <a:off x="643463" y="2367092"/>
            <a:ext cx="3352128" cy="3881309"/>
          </a:xfrm>
        </p:spPr>
        <p:txBody>
          <a:bodyPr>
            <a:normAutofit/>
          </a:bodyPr>
          <a:lstStyle/>
          <a:p>
            <a:pPr marL="0" indent="0">
              <a:lnSpc>
                <a:spcPct val="110000"/>
              </a:lnSpc>
              <a:buNone/>
            </a:pPr>
            <a:r>
              <a:rPr lang="en-US" sz="1700">
                <a:ea typeface="+mn-lt"/>
                <a:cs typeface="+mn-lt"/>
              </a:rPr>
              <a:t>The primary goal is to provide a centralized platform for managing all hardware components from procurement to disposal. This system aims to increase accuracy in asset tracking, minimize manual errors, and facilitate audits. It supports compliance with organizational policies and helps optimize inventory levels to reduce costs.</a:t>
            </a:r>
            <a:endParaRPr lang="en-US" sz="1700"/>
          </a:p>
        </p:txBody>
      </p:sp>
      <p:sp>
        <p:nvSpPr>
          <p:cNvPr id="42" name="Rectangle 41">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1525"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people sitting around a table with computers&#10;&#10;AI-generated content may be incorrect.">
            <a:extLst>
              <a:ext uri="{FF2B5EF4-FFF2-40B4-BE49-F238E27FC236}">
                <a16:creationId xmlns:a16="http://schemas.microsoft.com/office/drawing/2014/main" id="{1D378322-1025-012C-E87D-CA06C657ECDB}"/>
              </a:ext>
            </a:extLst>
          </p:cNvPr>
          <p:cNvPicPr>
            <a:picLocks noChangeAspect="1"/>
          </p:cNvPicPr>
          <p:nvPr/>
        </p:nvPicPr>
        <p:blipFill>
          <a:blip r:embed="rId4"/>
          <a:srcRect l="19155" r="413" b="-2"/>
          <a:stretch>
            <a:fillRect/>
          </a:stretch>
        </p:blipFill>
        <p:spPr>
          <a:xfrm>
            <a:off x="4712842" y="10"/>
            <a:ext cx="7479157" cy="6857990"/>
          </a:xfrm>
          <a:prstGeom prst="rect">
            <a:avLst/>
          </a:prstGeom>
        </p:spPr>
      </p:pic>
      <p:pic>
        <p:nvPicPr>
          <p:cNvPr id="44" name="Picture 43">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8150"/>
          <a:stretch/>
        </p:blipFill>
        <p:spPr>
          <a:xfrm>
            <a:off x="4651242" y="0"/>
            <a:ext cx="7540758" cy="6858000"/>
          </a:xfrm>
          <a:prstGeom prst="rect">
            <a:avLst/>
          </a:prstGeom>
        </p:spPr>
      </p:pic>
    </p:spTree>
    <p:extLst>
      <p:ext uri="{BB962C8B-B14F-4D97-AF65-F5344CB8AC3E}">
        <p14:creationId xmlns:p14="http://schemas.microsoft.com/office/powerpoint/2010/main" val="4112772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4F6F94E2-2118-F04E-3383-93834C3F617F}"/>
              </a:ext>
            </a:extLst>
          </p:cNvPr>
          <p:cNvSpPr>
            <a:spLocks noGrp="1"/>
          </p:cNvSpPr>
          <p:nvPr>
            <p:ph sz="quarter" idx="14"/>
          </p:nvPr>
        </p:nvSpPr>
        <p:spPr/>
        <p:txBody>
          <a:bodyPr/>
          <a:lstStyle/>
          <a:p>
            <a:endParaRPr lang="en-US"/>
          </a:p>
        </p:txBody>
      </p:sp>
      <p:sp>
        <p:nvSpPr>
          <p:cNvPr id="23" name="Title 22">
            <a:extLst>
              <a:ext uri="{FF2B5EF4-FFF2-40B4-BE49-F238E27FC236}">
                <a16:creationId xmlns:a16="http://schemas.microsoft.com/office/drawing/2014/main" id="{FEF6875E-CB76-0FDF-495B-0B856620E814}"/>
              </a:ext>
            </a:extLst>
          </p:cNvPr>
          <p:cNvSpPr>
            <a:spLocks noGrp="1"/>
          </p:cNvSpPr>
          <p:nvPr>
            <p:ph type="title"/>
          </p:nvPr>
        </p:nvSpPr>
        <p:spPr/>
        <p:txBody>
          <a:bodyPr/>
          <a:lstStyle/>
          <a:p>
            <a:endParaRPr lang="en-US"/>
          </a:p>
        </p:txBody>
      </p:sp>
      <p:sp>
        <p:nvSpPr>
          <p:cNvPr id="27" name="Content Placeholder 26">
            <a:extLst>
              <a:ext uri="{FF2B5EF4-FFF2-40B4-BE49-F238E27FC236}">
                <a16:creationId xmlns:a16="http://schemas.microsoft.com/office/drawing/2014/main" id="{D3DB9807-0EA2-D666-044D-CB3D607AB4D2}"/>
              </a:ext>
            </a:extLst>
          </p:cNvPr>
          <p:cNvSpPr>
            <a:spLocks noGrp="1"/>
          </p:cNvSpPr>
          <p:nvPr>
            <p:ph sz="quarter" idx="13"/>
          </p:nvPr>
        </p:nvSpPr>
        <p:spPr/>
        <p:txBody>
          <a:bodyPr/>
          <a:lstStyle/>
          <a:p>
            <a:endParaRPr lang="en-US"/>
          </a:p>
        </p:txBody>
      </p:sp>
      <p:pic>
        <p:nvPicPr>
          <p:cNvPr id="31" name="Picture 2" descr="A light on the ground&#10;&#10;AI-generated content may be incorrect.">
            <a:extLst>
              <a:ext uri="{FF2B5EF4-FFF2-40B4-BE49-F238E27FC236}">
                <a16:creationId xmlns:a16="http://schemas.microsoft.com/office/drawing/2014/main" id="{1D570436-2263-4209-D401-A5D2E12B4E09}"/>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A black background with white circles&#10;&#10;AI-generated content may be incorrect.">
            <a:extLst>
              <a:ext uri="{FF2B5EF4-FFF2-40B4-BE49-F238E27FC236}">
                <a16:creationId xmlns:a16="http://schemas.microsoft.com/office/drawing/2014/main" id="{95A41986-262C-7645-3968-1D262504A97C}"/>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36" name="Rectangle 35">
            <a:extLst>
              <a:ext uri="{FF2B5EF4-FFF2-40B4-BE49-F238E27FC236}">
                <a16:creationId xmlns:a16="http://schemas.microsoft.com/office/drawing/2014/main" id="{D7AF0078-ABA4-C973-1309-5EBA710D2B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 y="15240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descr="A black background with white circles&#10;&#10;AI-generated content may be incorrect.">
            <a:extLst>
              <a:ext uri="{FF2B5EF4-FFF2-40B4-BE49-F238E27FC236}">
                <a16:creationId xmlns:a16="http://schemas.microsoft.com/office/drawing/2014/main" id="{BF7C6411-430E-902B-EE6E-D320B6393BF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304800" y="304800"/>
            <a:ext cx="12192000" cy="6858000"/>
          </a:xfrm>
          <a:prstGeom prst="rect">
            <a:avLst/>
          </a:prstGeom>
        </p:spPr>
      </p:pic>
      <p:pic>
        <p:nvPicPr>
          <p:cNvPr id="40" name="Content Placeholder 7" descr="What are the Advantages and Key Features of the Inventory Management ...">
            <a:extLst>
              <a:ext uri="{FF2B5EF4-FFF2-40B4-BE49-F238E27FC236}">
                <a16:creationId xmlns:a16="http://schemas.microsoft.com/office/drawing/2014/main" id="{B41E02B9-80D3-4C52-81A9-05489DE4D288}"/>
              </a:ext>
            </a:extLst>
          </p:cNvPr>
          <p:cNvPicPr>
            <a:picLocks noChangeAspect="1"/>
          </p:cNvPicPr>
          <p:nvPr/>
        </p:nvPicPr>
        <p:blipFill>
          <a:blip r:embed="rId5"/>
          <a:stretch>
            <a:fillRect/>
          </a:stretch>
        </p:blipFill>
        <p:spPr>
          <a:xfrm>
            <a:off x="141155" y="-21953"/>
            <a:ext cx="5926910" cy="7022808"/>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42" name="Title 1">
            <a:extLst>
              <a:ext uri="{FF2B5EF4-FFF2-40B4-BE49-F238E27FC236}">
                <a16:creationId xmlns:a16="http://schemas.microsoft.com/office/drawing/2014/main" id="{9E3859EA-E801-3470-6DAA-7EEF657CB867}"/>
              </a:ext>
            </a:extLst>
          </p:cNvPr>
          <p:cNvSpPr txBox="1">
            <a:spLocks/>
          </p:cNvSpPr>
          <p:nvPr/>
        </p:nvSpPr>
        <p:spPr>
          <a:xfrm>
            <a:off x="6417733" y="618517"/>
            <a:ext cx="4860494" cy="159617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a:t>Key Features and Functionalities</a:t>
            </a:r>
            <a:endParaRPr lang="en-US" dirty="0"/>
          </a:p>
        </p:txBody>
      </p:sp>
      <p:sp>
        <p:nvSpPr>
          <p:cNvPr id="44" name="Content Placeholder 2">
            <a:extLst>
              <a:ext uri="{FF2B5EF4-FFF2-40B4-BE49-F238E27FC236}">
                <a16:creationId xmlns:a16="http://schemas.microsoft.com/office/drawing/2014/main" id="{28D7F1E9-C614-3670-231F-A233A77A8A5C}"/>
              </a:ext>
            </a:extLst>
          </p:cNvPr>
          <p:cNvSpPr txBox="1">
            <a:spLocks/>
          </p:cNvSpPr>
          <p:nvPr/>
        </p:nvSpPr>
        <p:spPr>
          <a:xfrm>
            <a:off x="6417399" y="2367092"/>
            <a:ext cx="4860201"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lnSpc>
                <a:spcPct val="110000"/>
              </a:lnSpc>
            </a:pPr>
            <a:r>
              <a:rPr lang="en-US" sz="1800"/>
              <a:t>Key features include barcode/RFID scanning for quick data capture, automated alerts for maintenance and warranty expiration, and detailed reporting tools. </a:t>
            </a:r>
          </a:p>
          <a:p>
            <a:pPr>
              <a:lnSpc>
                <a:spcPct val="110000"/>
              </a:lnSpc>
            </a:pPr>
            <a:r>
              <a:rPr lang="en-US" sz="1800"/>
              <a:t>The system also supports multi-user roles for secure access and provides integration capabilities with existing enterprise resource planning (ERP) systems for seamless data sharing.</a:t>
            </a:r>
          </a:p>
        </p:txBody>
      </p:sp>
    </p:spTree>
    <p:extLst>
      <p:ext uri="{BB962C8B-B14F-4D97-AF65-F5344CB8AC3E}">
        <p14:creationId xmlns:p14="http://schemas.microsoft.com/office/powerpoint/2010/main" val="3069036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24"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28" name="Rectangle 27">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9" name="Content Placeholder 18" descr="A person and person standing next to each other&#10;&#10;AI-generated content may be incorrect.">
            <a:extLst>
              <a:ext uri="{FF2B5EF4-FFF2-40B4-BE49-F238E27FC236}">
                <a16:creationId xmlns:a16="http://schemas.microsoft.com/office/drawing/2014/main" id="{10D1BAB4-0EDC-7D68-F17F-6150D726A325}"/>
              </a:ext>
            </a:extLst>
          </p:cNvPr>
          <p:cNvPicPr>
            <a:picLocks noGrp="1" noChangeAspect="1"/>
          </p:cNvPicPr>
          <p:nvPr>
            <p:ph sz="quarter" idx="14"/>
          </p:nvPr>
        </p:nvPicPr>
        <p:blipFill>
          <a:blip r:embed="rId4"/>
          <a:srcRect l="38697" r="23450" b="-1"/>
          <a:stretch>
            <a:fillRect/>
          </a:stretch>
        </p:blipFill>
        <p:spPr>
          <a:xfrm>
            <a:off x="20" y="10"/>
            <a:ext cx="4024741" cy="6857990"/>
          </a:xfrm>
          <a:prstGeom prst="rect">
            <a:avLst/>
          </a:prstGeom>
        </p:spPr>
      </p:pic>
      <p:sp>
        <p:nvSpPr>
          <p:cNvPr id="2" name="Title 1">
            <a:extLst>
              <a:ext uri="{FF2B5EF4-FFF2-40B4-BE49-F238E27FC236}">
                <a16:creationId xmlns:a16="http://schemas.microsoft.com/office/drawing/2014/main" id="{7E380306-2969-7107-B224-7F409DA6C6EC}"/>
              </a:ext>
            </a:extLst>
          </p:cNvPr>
          <p:cNvSpPr>
            <a:spLocks noGrp="1"/>
          </p:cNvSpPr>
          <p:nvPr>
            <p:ph type="title"/>
          </p:nvPr>
        </p:nvSpPr>
        <p:spPr>
          <a:xfrm>
            <a:off x="4465050" y="618517"/>
            <a:ext cx="6672886" cy="1596177"/>
          </a:xfrm>
        </p:spPr>
        <p:txBody>
          <a:bodyPr vert="horz" lIns="91440" tIns="45720" rIns="91440" bIns="45720" rtlCol="0" anchor="ctr">
            <a:normAutofit/>
          </a:bodyPr>
          <a:lstStyle/>
          <a:p>
            <a:r>
              <a:rPr lang="en-US"/>
              <a:t>Stakeholders and User Roles</a:t>
            </a:r>
          </a:p>
        </p:txBody>
      </p:sp>
      <p:sp>
        <p:nvSpPr>
          <p:cNvPr id="3" name="Content Placeholder 2">
            <a:extLst>
              <a:ext uri="{FF2B5EF4-FFF2-40B4-BE49-F238E27FC236}">
                <a16:creationId xmlns:a16="http://schemas.microsoft.com/office/drawing/2014/main" id="{AD4C9BCB-5304-5C6F-AA1D-9DA43F0B31D8}"/>
              </a:ext>
            </a:extLst>
          </p:cNvPr>
          <p:cNvSpPr>
            <a:spLocks noGrp="1"/>
          </p:cNvSpPr>
          <p:nvPr>
            <p:ph sz="quarter" idx="13"/>
          </p:nvPr>
        </p:nvSpPr>
        <p:spPr>
          <a:xfrm>
            <a:off x="4465048" y="2367092"/>
            <a:ext cx="6672887" cy="3424107"/>
          </a:xfrm>
        </p:spPr>
        <p:txBody>
          <a:bodyPr vert="horz" lIns="91440" tIns="45720" rIns="91440" bIns="45720" rtlCol="0">
            <a:normAutofit/>
          </a:bodyPr>
          <a:lstStyle/>
          <a:p>
            <a:r>
              <a:rPr lang="en-US"/>
              <a:t>The hardware inventory system serves multiple stakeholders such as IT administrators, finance teams, and procurement officers. Each user role is assigned specific access levels to ensure data security and operational efficiency. End users can track assets, generate reports, and manage hardware lifecycle, while management benefits from aggregated insights for strategic decisions.</a:t>
            </a:r>
          </a:p>
        </p:txBody>
      </p:sp>
    </p:spTree>
    <p:extLst>
      <p:ext uri="{BB962C8B-B14F-4D97-AF65-F5344CB8AC3E}">
        <p14:creationId xmlns:p14="http://schemas.microsoft.com/office/powerpoint/2010/main" val="3460412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 name="Rectangle 13">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ontent Placeholder 4" descr="A warehouse with shelves that say quot the word quot on the bottom ...">
            <a:extLst>
              <a:ext uri="{FF2B5EF4-FFF2-40B4-BE49-F238E27FC236}">
                <a16:creationId xmlns:a16="http://schemas.microsoft.com/office/drawing/2014/main" id="{E31CA4E7-D24A-BEC3-6DB4-3F890E6D8B58}"/>
              </a:ext>
            </a:extLst>
          </p:cNvPr>
          <p:cNvPicPr>
            <a:picLocks noGrp="1" noChangeAspect="1"/>
          </p:cNvPicPr>
          <p:nvPr>
            <p:ph sz="quarter" idx="14"/>
          </p:nvPr>
        </p:nvPicPr>
        <p:blipFill>
          <a:blip r:embed="rId4"/>
          <a:srcRect l="45246" r="21889"/>
          <a:stretch>
            <a:fillRect/>
          </a:stretch>
        </p:blipFill>
        <p:spPr>
          <a:xfrm>
            <a:off x="20" y="10"/>
            <a:ext cx="4024741" cy="6857990"/>
          </a:xfrm>
          <a:prstGeom prst="rect">
            <a:avLst/>
          </a:prstGeom>
        </p:spPr>
      </p:pic>
      <p:sp>
        <p:nvSpPr>
          <p:cNvPr id="2" name="Title 1">
            <a:extLst>
              <a:ext uri="{FF2B5EF4-FFF2-40B4-BE49-F238E27FC236}">
                <a16:creationId xmlns:a16="http://schemas.microsoft.com/office/drawing/2014/main" id="{37D75273-9406-A7AD-0795-B32F4F5D44A9}"/>
              </a:ext>
            </a:extLst>
          </p:cNvPr>
          <p:cNvSpPr>
            <a:spLocks noGrp="1"/>
          </p:cNvSpPr>
          <p:nvPr>
            <p:ph type="title"/>
          </p:nvPr>
        </p:nvSpPr>
        <p:spPr>
          <a:xfrm>
            <a:off x="4465050" y="618517"/>
            <a:ext cx="6672886" cy="1596177"/>
          </a:xfrm>
        </p:spPr>
        <p:txBody>
          <a:bodyPr vert="horz" lIns="91440" tIns="45720" rIns="91440" bIns="45720" rtlCol="0" anchor="ctr">
            <a:normAutofit/>
          </a:bodyPr>
          <a:lstStyle/>
          <a:p>
            <a:r>
              <a:rPr lang="en-US"/>
              <a:t>System Architecture and Technologies Used</a:t>
            </a:r>
            <a:endParaRPr lang="en-US" dirty="0"/>
          </a:p>
        </p:txBody>
      </p:sp>
      <p:sp>
        <p:nvSpPr>
          <p:cNvPr id="3" name="Content Placeholder 2">
            <a:extLst>
              <a:ext uri="{FF2B5EF4-FFF2-40B4-BE49-F238E27FC236}">
                <a16:creationId xmlns:a16="http://schemas.microsoft.com/office/drawing/2014/main" id="{40E7B833-5FDF-8376-122C-1923B1E809DD}"/>
              </a:ext>
            </a:extLst>
          </p:cNvPr>
          <p:cNvSpPr>
            <a:spLocks noGrp="1"/>
          </p:cNvSpPr>
          <p:nvPr>
            <p:ph sz="quarter" idx="13"/>
          </p:nvPr>
        </p:nvSpPr>
        <p:spPr>
          <a:xfrm>
            <a:off x="4465048" y="2367092"/>
            <a:ext cx="6672887" cy="3424107"/>
          </a:xfrm>
        </p:spPr>
        <p:txBody>
          <a:bodyPr vert="horz" lIns="91440" tIns="45720" rIns="91440" bIns="45720" rtlCol="0">
            <a:normAutofit/>
          </a:bodyPr>
          <a:lstStyle/>
          <a:p>
            <a:r>
              <a:rPr lang="en-US"/>
              <a:t>The system employs a client-server architecture with a cloud-based database for scalability and remote access. Technologies include RFID/barcode scanners, web interfaces, and secure APIs. This design enables real-time updates, high availability, and seamless integration with enterprise resource planning (ERP) and asset management platforms for enhanced functionality.</a:t>
            </a:r>
            <a:endParaRPr lang="en-US" dirty="0"/>
          </a:p>
        </p:txBody>
      </p:sp>
    </p:spTree>
    <p:extLst>
      <p:ext uri="{BB962C8B-B14F-4D97-AF65-F5344CB8AC3E}">
        <p14:creationId xmlns:p14="http://schemas.microsoft.com/office/powerpoint/2010/main" val="233218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4" name="Rectangle 43">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Content Placeholder 19" descr="Integration data system. System Integration technology concept ...">
            <a:extLst>
              <a:ext uri="{FF2B5EF4-FFF2-40B4-BE49-F238E27FC236}">
                <a16:creationId xmlns:a16="http://schemas.microsoft.com/office/drawing/2014/main" id="{64412CB6-9B5D-5291-7FF3-BADFD1AAFE69}"/>
              </a:ext>
            </a:extLst>
          </p:cNvPr>
          <p:cNvPicPr>
            <a:picLocks noGrp="1" noChangeAspect="1"/>
          </p:cNvPicPr>
          <p:nvPr>
            <p:ph sz="quarter" idx="14"/>
          </p:nvPr>
        </p:nvPicPr>
        <p:blipFill>
          <a:blip r:embed="rId4"/>
          <a:srcRect l="46401" r="18387"/>
          <a:stretch>
            <a:fillRect/>
          </a:stretch>
        </p:blipFill>
        <p:spPr>
          <a:xfrm>
            <a:off x="20" y="10"/>
            <a:ext cx="4024741" cy="6857990"/>
          </a:xfrm>
          <a:prstGeom prst="rect">
            <a:avLst/>
          </a:prstGeom>
        </p:spPr>
      </p:pic>
      <p:sp>
        <p:nvSpPr>
          <p:cNvPr id="15" name="Title 14">
            <a:extLst>
              <a:ext uri="{FF2B5EF4-FFF2-40B4-BE49-F238E27FC236}">
                <a16:creationId xmlns:a16="http://schemas.microsoft.com/office/drawing/2014/main" id="{62A7C467-2812-2397-5A64-9D638D61066D}"/>
              </a:ext>
            </a:extLst>
          </p:cNvPr>
          <p:cNvSpPr>
            <a:spLocks noGrp="1"/>
          </p:cNvSpPr>
          <p:nvPr>
            <p:ph type="title"/>
          </p:nvPr>
        </p:nvSpPr>
        <p:spPr>
          <a:xfrm>
            <a:off x="4465050" y="618517"/>
            <a:ext cx="6672886" cy="1596177"/>
          </a:xfrm>
        </p:spPr>
        <p:txBody>
          <a:bodyPr vert="horz" lIns="91440" tIns="45720" rIns="91440" bIns="45720" rtlCol="0" anchor="ctr">
            <a:normAutofit/>
          </a:bodyPr>
          <a:lstStyle/>
          <a:p>
            <a:r>
              <a:rPr lang="en-US"/>
              <a:t>Deployment and Integration Strategy</a:t>
            </a:r>
          </a:p>
        </p:txBody>
      </p:sp>
      <p:sp>
        <p:nvSpPr>
          <p:cNvPr id="11" name="Content Placeholder 10">
            <a:extLst>
              <a:ext uri="{FF2B5EF4-FFF2-40B4-BE49-F238E27FC236}">
                <a16:creationId xmlns:a16="http://schemas.microsoft.com/office/drawing/2014/main" id="{C48BF1EC-435D-90CE-70DB-ABFBA65E803B}"/>
              </a:ext>
            </a:extLst>
          </p:cNvPr>
          <p:cNvSpPr>
            <a:spLocks noGrp="1"/>
          </p:cNvSpPr>
          <p:nvPr>
            <p:ph sz="quarter" idx="13"/>
          </p:nvPr>
        </p:nvSpPr>
        <p:spPr>
          <a:xfrm>
            <a:off x="4465048" y="2367092"/>
            <a:ext cx="6672887" cy="3424107"/>
          </a:xfrm>
        </p:spPr>
        <p:txBody>
          <a:bodyPr vert="horz" lIns="91440" tIns="45720" rIns="91440" bIns="45720" rtlCol="0">
            <a:normAutofit/>
          </a:bodyPr>
          <a:lstStyle/>
          <a:p>
            <a:r>
              <a:rPr lang="en-US"/>
              <a:t>Deployment involves phased rollouts starting with critical departments to minimize disruptions. The system integrates with existing IT workflows and software tools via standardized protocols. Training sessions ensure user adoption, and continuous technical support is provided to address potential challenges during and after implementation.</a:t>
            </a:r>
          </a:p>
        </p:txBody>
      </p:sp>
    </p:spTree>
    <p:extLst>
      <p:ext uri="{BB962C8B-B14F-4D97-AF65-F5344CB8AC3E}">
        <p14:creationId xmlns:p14="http://schemas.microsoft.com/office/powerpoint/2010/main" val="1026395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3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34" name="Rectangle 33">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2">
            <a:extLst>
              <a:ext uri="{FF2B5EF4-FFF2-40B4-BE49-F238E27FC236}">
                <a16:creationId xmlns:a16="http://schemas.microsoft.com/office/drawing/2014/main" id="{0917E639-5738-4605-929E-1222198314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3"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07F97356-2D09-2154-D67C-CE59EFDEF64A}"/>
              </a:ext>
            </a:extLst>
          </p:cNvPr>
          <p:cNvSpPr>
            <a:spLocks noGrp="1"/>
          </p:cNvSpPr>
          <p:nvPr>
            <p:ph type="title"/>
          </p:nvPr>
        </p:nvSpPr>
        <p:spPr>
          <a:xfrm>
            <a:off x="643463" y="640831"/>
            <a:ext cx="3352128" cy="1573863"/>
          </a:xfrm>
        </p:spPr>
        <p:txBody>
          <a:bodyPr vert="horz" lIns="91440" tIns="45720" rIns="91440" bIns="45720" rtlCol="0" anchor="ctr">
            <a:normAutofit/>
          </a:bodyPr>
          <a:lstStyle/>
          <a:p>
            <a:pPr algn="l"/>
            <a:r>
              <a:rPr lang="en-US" sz="3600"/>
              <a:t>Conclusion</a:t>
            </a:r>
          </a:p>
        </p:txBody>
      </p:sp>
      <p:sp>
        <p:nvSpPr>
          <p:cNvPr id="5" name="Text Placeholder 4">
            <a:extLst>
              <a:ext uri="{FF2B5EF4-FFF2-40B4-BE49-F238E27FC236}">
                <a16:creationId xmlns:a16="http://schemas.microsoft.com/office/drawing/2014/main" id="{F0F66D69-327D-0D22-6A6F-0DAB8F5DC01D}"/>
              </a:ext>
            </a:extLst>
          </p:cNvPr>
          <p:cNvSpPr>
            <a:spLocks noGrp="1"/>
          </p:cNvSpPr>
          <p:nvPr>
            <p:ph type="body" sz="half" idx="2"/>
          </p:nvPr>
        </p:nvSpPr>
        <p:spPr>
          <a:xfrm>
            <a:off x="643463" y="2367092"/>
            <a:ext cx="3352128" cy="3881309"/>
          </a:xfrm>
        </p:spPr>
        <p:txBody>
          <a:bodyPr vert="horz" lIns="91440" tIns="45720" rIns="91440" bIns="45720" rtlCol="0">
            <a:normAutofit/>
          </a:bodyPr>
          <a:lstStyle/>
          <a:p>
            <a:pPr indent="-228600" algn="l">
              <a:lnSpc>
                <a:spcPct val="110000"/>
              </a:lnSpc>
              <a:buFont typeface="Arial" panose="020B0604020202020204" pitchFamily="34" charset="0"/>
              <a:buChar char="•"/>
            </a:pPr>
            <a:r>
              <a:rPr lang="en-US" sz="1700"/>
              <a:t>Implementing a hardware inventory system delivers robust asset control, streamlined workflows, and enhanced transparency. It empowers organizations to maximize hardware value while reducing management overhead. The system’s scalability and integration capabilities ensure long-term adaptability aligned with evolving business needs.</a:t>
            </a:r>
          </a:p>
        </p:txBody>
      </p:sp>
      <p:sp>
        <p:nvSpPr>
          <p:cNvPr id="38" name="Rectangle 37">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1525"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erson sitting at a desk with two computer screens&#10;&#10;AI-generated content may be incorrect.">
            <a:extLst>
              <a:ext uri="{FF2B5EF4-FFF2-40B4-BE49-F238E27FC236}">
                <a16:creationId xmlns:a16="http://schemas.microsoft.com/office/drawing/2014/main" id="{D46F0770-145D-0949-08BD-0DE93FA5B5CB}"/>
              </a:ext>
            </a:extLst>
          </p:cNvPr>
          <p:cNvPicPr>
            <a:picLocks noChangeAspect="1"/>
          </p:cNvPicPr>
          <p:nvPr/>
        </p:nvPicPr>
        <p:blipFill>
          <a:blip r:embed="rId5"/>
          <a:srcRect l="7120" r="12449" b="-2"/>
          <a:stretch>
            <a:fillRect/>
          </a:stretch>
        </p:blipFill>
        <p:spPr>
          <a:xfrm>
            <a:off x="4712842" y="10"/>
            <a:ext cx="7479157" cy="6857990"/>
          </a:xfrm>
          <a:prstGeom prst="rect">
            <a:avLst/>
          </a:prstGeom>
        </p:spPr>
      </p:pic>
      <p:pic>
        <p:nvPicPr>
          <p:cNvPr id="40" name="Picture 39">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8150"/>
          <a:stretch/>
        </p:blipFill>
        <p:spPr>
          <a:xfrm>
            <a:off x="4651242" y="0"/>
            <a:ext cx="7540758" cy="6858000"/>
          </a:xfrm>
          <a:prstGeom prst="rect">
            <a:avLst/>
          </a:prstGeom>
        </p:spPr>
      </p:pic>
    </p:spTree>
    <p:extLst>
      <p:ext uri="{BB962C8B-B14F-4D97-AF65-F5344CB8AC3E}">
        <p14:creationId xmlns:p14="http://schemas.microsoft.com/office/powerpoint/2010/main" val="298461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20" name="Picture 2">
            <a:extLst>
              <a:ext uri="{FF2B5EF4-FFF2-40B4-BE49-F238E27FC236}">
                <a16:creationId xmlns:a16="http://schemas.microsoft.com/office/drawing/2014/main" id="{93274B0C-1CB3-4AA4-A183-20B7FE5DB1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2E640319-3BB6-49BF-BAF4-D63FEC73E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22" name="Rectangle 21">
            <a:extLst>
              <a:ext uri="{FF2B5EF4-FFF2-40B4-BE49-F238E27FC236}">
                <a16:creationId xmlns:a16="http://schemas.microsoft.com/office/drawing/2014/main" id="{5BECDBB2-914C-44DE-B171-6F7946196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
            <a:extLst>
              <a:ext uri="{FF2B5EF4-FFF2-40B4-BE49-F238E27FC236}">
                <a16:creationId xmlns:a16="http://schemas.microsoft.com/office/drawing/2014/main" id="{1D5C6008-3DE6-42B7-AED2-68544F325B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10,991 Black and white thank you card Images, Stock Photos &amp; Vectors ...">
            <a:extLst>
              <a:ext uri="{FF2B5EF4-FFF2-40B4-BE49-F238E27FC236}">
                <a16:creationId xmlns:a16="http://schemas.microsoft.com/office/drawing/2014/main" id="{12872D4E-BB6D-8221-2169-7A6336B08958}"/>
              </a:ext>
            </a:extLst>
          </p:cNvPr>
          <p:cNvPicPr>
            <a:picLocks noChangeAspect="1"/>
          </p:cNvPicPr>
          <p:nvPr/>
        </p:nvPicPr>
        <p:blipFill>
          <a:blip r:embed="rId4"/>
          <a:srcRect t="3826" b="12936"/>
          <a:stretch>
            <a:fillRect/>
          </a:stretch>
        </p:blipFill>
        <p:spPr>
          <a:xfrm>
            <a:off x="-197581" y="10"/>
            <a:ext cx="12389581" cy="6857990"/>
          </a:xfrm>
          <a:prstGeom prst="rect">
            <a:avLst/>
          </a:prstGeom>
        </p:spPr>
      </p:pic>
      <p:pic>
        <p:nvPicPr>
          <p:cNvPr id="19" name="Picture 18">
            <a:extLst>
              <a:ext uri="{FF2B5EF4-FFF2-40B4-BE49-F238E27FC236}">
                <a16:creationId xmlns:a16="http://schemas.microsoft.com/office/drawing/2014/main" id="{5D09915C-7FC3-45EF-BDD0-6393ACE446E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97584" y="-2"/>
            <a:ext cx="12192000" cy="6858000"/>
          </a:xfrm>
          <a:prstGeom prst="rect">
            <a:avLst/>
          </a:prstGeom>
        </p:spPr>
      </p:pic>
    </p:spTree>
    <p:extLst>
      <p:ext uri="{BB962C8B-B14F-4D97-AF65-F5344CB8AC3E}">
        <p14:creationId xmlns:p14="http://schemas.microsoft.com/office/powerpoint/2010/main" val="407384918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5FC6BB-A55E-4545-8619-7F7F30CFA1FD}">
  <ds:schemaRefs>
    <ds:schemaRef ds:uri="http://schemas.microsoft.com/sharepoint/v3/contenttype/forms"/>
  </ds:schemaRefs>
</ds:datastoreItem>
</file>

<file path=customXml/itemProps2.xml><?xml version="1.0" encoding="utf-8"?>
<ds:datastoreItem xmlns:ds="http://schemas.openxmlformats.org/officeDocument/2006/customXml" ds:itemID="{90E03586-8184-4C49-8FA3-B20AB4AE10E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C18C37A7-4AB7-40E8-AFED-CECDD3C7E0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28</Words>
  <Application>Microsoft Office PowerPoint</Application>
  <PresentationFormat>Widescreen</PresentationFormat>
  <Paragraphs>17</Paragraphs>
  <Slides>9</Slides>
  <Notes>5</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Droplet</vt:lpstr>
      <vt:lpstr>Project title: hardware inventory system Name: palimeti sai amulya branch: CSE(AI) </vt:lpstr>
      <vt:lpstr>Introduction </vt:lpstr>
      <vt:lpstr>Purpose and Objectives </vt:lpstr>
      <vt:lpstr>PowerPoint Presentation</vt:lpstr>
      <vt:lpstr>Stakeholders and User Roles</vt:lpstr>
      <vt:lpstr>System Architecture and Technologies Used</vt:lpstr>
      <vt:lpstr>Deployment and Integration Strategy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197</cp:revision>
  <dcterms:created xsi:type="dcterms:W3CDTF">2025-10-28T16:02:50Z</dcterms:created>
  <dcterms:modified xsi:type="dcterms:W3CDTF">2025-10-28T17:51:13Z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